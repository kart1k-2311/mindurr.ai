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al Bold Italics" panose="020B0604020202020204" charset="0"/>
      <p:regular r:id="rId11"/>
    </p:embeddedFont>
    <p:embeddedFont>
      <p:font typeface="Arial Italics" panose="020B0604020202020204" charset="0"/>
      <p:regular r:id="rId12"/>
    </p:embeddedFon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Calibri (MS)" panose="020B0604020202020204" charset="0"/>
      <p:regular r:id="rId15"/>
    </p:embeddedFont>
    <p:embeddedFont>
      <p:font typeface="Garamond Bold" panose="02020804030307010803" pitchFamily="18" charset="0"/>
      <p:regular r:id="rId16"/>
      <p:bold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93098" y="1525848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093214" y="3559350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000"/>
              </a:blip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5087600" y="275764"/>
            <a:ext cx="2865786" cy="1505871"/>
          </a:xfrm>
          <a:custGeom>
            <a:avLst/>
            <a:gdLst/>
            <a:ahLst/>
            <a:cxnLst/>
            <a:rect l="l" t="t" r="r" b="b"/>
            <a:pathLst>
              <a:path w="2865786" h="1505871">
                <a:moveTo>
                  <a:pt x="0" y="0"/>
                </a:moveTo>
                <a:lnTo>
                  <a:pt x="2865786" y="0"/>
                </a:lnTo>
                <a:lnTo>
                  <a:pt x="2865786" y="1505872"/>
                </a:lnTo>
                <a:lnTo>
                  <a:pt x="0" y="1505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92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0583" y="2479912"/>
            <a:ext cx="11855198" cy="7339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7"/>
              </a:lnSpc>
            </a:pPr>
            <a:endParaRPr/>
          </a:p>
          <a:p>
            <a:pPr marL="605822" lvl="1" indent="-302911" algn="just">
              <a:lnSpc>
                <a:spcPts val="8034"/>
              </a:lnSpc>
              <a:buFont typeface="Arial"/>
              <a:buChar char="•"/>
            </a:pPr>
            <a:r>
              <a:rPr lang="en-US" sz="334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3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SIH26205</a:t>
            </a:r>
          </a:p>
          <a:p>
            <a:pPr marL="605822" lvl="1" indent="-302911" algn="just">
              <a:lnSpc>
                <a:spcPts val="8034"/>
              </a:lnSpc>
              <a:buFont typeface="Arial"/>
              <a:buChar char="•"/>
            </a:pPr>
            <a:r>
              <a:rPr lang="en-US" sz="334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3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 Powered Skill Gap Analysis and Carrer Guidance System</a:t>
            </a:r>
          </a:p>
          <a:p>
            <a:pPr marL="605822" lvl="1" indent="-302911" algn="just">
              <a:lnSpc>
                <a:spcPts val="8034"/>
              </a:lnSpc>
              <a:buFont typeface="Arial"/>
              <a:buChar char="•"/>
            </a:pPr>
            <a:r>
              <a:rPr lang="en-US" sz="334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3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Education</a:t>
            </a:r>
          </a:p>
          <a:p>
            <a:pPr marL="605822" lvl="1" indent="-302911" algn="just">
              <a:lnSpc>
                <a:spcPts val="8034"/>
              </a:lnSpc>
              <a:buFont typeface="Arial"/>
              <a:buChar char="•"/>
            </a:pPr>
            <a:r>
              <a:rPr lang="en-US" sz="334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3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605822" lvl="1" indent="-302911" algn="just">
              <a:lnSpc>
                <a:spcPts val="8034"/>
              </a:lnSpc>
              <a:buFont typeface="Arial"/>
              <a:buChar char="•"/>
            </a:pPr>
            <a:r>
              <a:rPr lang="en-US" sz="334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marL="605822" lvl="1" indent="-302911" algn="just">
              <a:lnSpc>
                <a:spcPts val="8034"/>
              </a:lnSpc>
              <a:buFont typeface="Arial"/>
              <a:buChar char="•"/>
            </a:pPr>
            <a:r>
              <a:rPr lang="en-US" sz="334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  <a:r>
              <a:rPr lang="en-US" sz="334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InfoSnatcher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5325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2016032" cy="1249101"/>
            <a:chOff x="0" y="0"/>
            <a:chExt cx="2688042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688002" cy="1665481"/>
            </a:xfrm>
            <a:custGeom>
              <a:avLst/>
              <a:gdLst/>
              <a:ahLst/>
              <a:cxnLst/>
              <a:rect l="l" t="t" r="r" b="b"/>
              <a:pathLst>
                <a:path w="2688002" h="1665481">
                  <a:moveTo>
                    <a:pt x="0" y="832740"/>
                  </a:moveTo>
                  <a:cubicBezTo>
                    <a:pt x="0" y="372873"/>
                    <a:pt x="601774" y="0"/>
                    <a:pt x="1344001" y="0"/>
                  </a:cubicBezTo>
                  <a:cubicBezTo>
                    <a:pt x="2086229" y="0"/>
                    <a:pt x="2688002" y="372873"/>
                    <a:pt x="2688002" y="832740"/>
                  </a:cubicBezTo>
                  <a:cubicBezTo>
                    <a:pt x="2688002" y="1292608"/>
                    <a:pt x="2086229" y="1665481"/>
                    <a:pt x="1344001" y="1665481"/>
                  </a:cubicBezTo>
                  <a:cubicBezTo>
                    <a:pt x="601774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688042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InfoSnatcher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74501" y="1828186"/>
            <a:ext cx="13755291" cy="7221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45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4" b="1" i="1">
                <a:solidFill>
                  <a:srgbClr val="C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USP</a:t>
            </a:r>
            <a:r>
              <a:rPr lang="en-US" sz="345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454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“Right Skill → Right Student → Right Job”</a:t>
            </a:r>
          </a:p>
          <a:p>
            <a:pPr algn="l">
              <a:lnSpc>
                <a:spcPts val="5181"/>
              </a:lnSpc>
            </a:pPr>
            <a:endParaRPr lang="en-US" sz="3454" b="1" i="1">
              <a:solidFill>
                <a:srgbClr val="1F497D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  <a:p>
            <a:pPr algn="l">
              <a:lnSpc>
                <a:spcPts val="5181"/>
              </a:lnSpc>
            </a:pPr>
            <a:r>
              <a:rPr lang="en-US" sz="345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❖</a:t>
            </a:r>
            <a:r>
              <a:rPr lang="en-US" sz="3454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</a:t>
            </a:r>
          </a:p>
          <a:p>
            <a:pPr algn="l">
              <a:lnSpc>
                <a:spcPts val="5181"/>
              </a:lnSpc>
            </a:pPr>
            <a:endParaRPr lang="en-US" sz="3454" b="1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5181"/>
              </a:lnSpc>
            </a:pP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345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🎯 Skill-First Evaluation –</a:t>
            </a: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4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Beyond CGPA &amp; certificates.</a:t>
            </a:r>
          </a:p>
          <a:p>
            <a:pPr algn="l">
              <a:lnSpc>
                <a:spcPts val="5181"/>
              </a:lnSpc>
            </a:pP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345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🤖 AI Skill Profiling – </a:t>
            </a:r>
            <a:r>
              <a:rPr lang="en-US" sz="3454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Identifies real strengths &amp; abilities.</a:t>
            </a:r>
          </a:p>
          <a:p>
            <a:pPr algn="l">
              <a:lnSpc>
                <a:spcPts val="5181"/>
              </a:lnSpc>
            </a:pP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345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🔗 Smart Job Matching –</a:t>
            </a: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4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Matches students with industry needs.</a:t>
            </a:r>
          </a:p>
          <a:p>
            <a:pPr algn="l">
              <a:lnSpc>
                <a:spcPts val="5181"/>
              </a:lnSpc>
            </a:pP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345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📊 Skill-Gap Analysis –</a:t>
            </a: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4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Finds missing skills for each role.</a:t>
            </a:r>
          </a:p>
          <a:p>
            <a:pPr algn="l">
              <a:lnSpc>
                <a:spcPts val="5181"/>
              </a:lnSpc>
            </a:pP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345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💡 Personalized Learning – </a:t>
            </a:r>
            <a:r>
              <a:rPr lang="en-US" sz="3454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Recommends skills to improve.</a:t>
            </a:r>
          </a:p>
          <a:p>
            <a:pPr algn="l">
              <a:lnSpc>
                <a:spcPts val="5181"/>
              </a:lnSpc>
            </a:pP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345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🏆 Hidden Talent Detection – </a:t>
            </a:r>
            <a:r>
              <a:rPr lang="en-US" sz="3454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Identifies potential beyond marks.</a:t>
            </a:r>
          </a:p>
          <a:p>
            <a:pPr algn="l">
              <a:lnSpc>
                <a:spcPts val="5181"/>
              </a:lnSpc>
            </a:pPr>
            <a:r>
              <a:rPr lang="en-US" sz="34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345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🔍 Explainable Ranking – </a:t>
            </a:r>
            <a:r>
              <a:rPr lang="en-US" sz="3454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Shows why a candidate is recommended.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516146" y="3341170"/>
            <a:ext cx="8099697" cy="4964788"/>
          </a:xfrm>
          <a:custGeom>
            <a:avLst/>
            <a:gdLst/>
            <a:ahLst/>
            <a:cxnLst/>
            <a:rect l="l" t="t" r="r" b="b"/>
            <a:pathLst>
              <a:path w="8099697" h="4964788">
                <a:moveTo>
                  <a:pt x="0" y="0"/>
                </a:moveTo>
                <a:lnTo>
                  <a:pt x="8099696" y="0"/>
                </a:lnTo>
                <a:lnTo>
                  <a:pt x="8099696" y="4964788"/>
                </a:lnTo>
                <a:lnTo>
                  <a:pt x="0" y="49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985369" y="359321"/>
            <a:ext cx="2865786" cy="1505871"/>
          </a:xfrm>
          <a:custGeom>
            <a:avLst/>
            <a:gdLst/>
            <a:ahLst/>
            <a:cxnLst/>
            <a:rect l="l" t="t" r="r" b="b"/>
            <a:pathLst>
              <a:path w="2865786" h="1505871">
                <a:moveTo>
                  <a:pt x="0" y="0"/>
                </a:moveTo>
                <a:lnTo>
                  <a:pt x="2865786" y="0"/>
                </a:lnTo>
                <a:lnTo>
                  <a:pt x="2865786" y="1505871"/>
                </a:lnTo>
                <a:lnTo>
                  <a:pt x="0" y="15058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920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90996" cy="1249101"/>
            <a:chOff x="0" y="0"/>
            <a:chExt cx="2654661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654621" cy="1665481"/>
            </a:xfrm>
            <a:custGeom>
              <a:avLst/>
              <a:gdLst/>
              <a:ahLst/>
              <a:cxnLst/>
              <a:rect l="l" t="t" r="r" b="b"/>
              <a:pathLst>
                <a:path w="2654621" h="1665481">
                  <a:moveTo>
                    <a:pt x="0" y="832740"/>
                  </a:moveTo>
                  <a:cubicBezTo>
                    <a:pt x="0" y="372873"/>
                    <a:pt x="594300" y="0"/>
                    <a:pt x="1327311" y="0"/>
                  </a:cubicBezTo>
                  <a:cubicBezTo>
                    <a:pt x="2060321" y="0"/>
                    <a:pt x="2654621" y="372873"/>
                    <a:pt x="2654621" y="832740"/>
                  </a:cubicBezTo>
                  <a:cubicBezTo>
                    <a:pt x="2654621" y="1292608"/>
                    <a:pt x="2060321" y="1665481"/>
                    <a:pt x="1327311" y="1665481"/>
                  </a:cubicBezTo>
                  <a:cubicBezTo>
                    <a:pt x="594300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654661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InfoSnatcher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630305" y="3126336"/>
            <a:ext cx="7552786" cy="5063488"/>
          </a:xfrm>
          <a:custGeom>
            <a:avLst/>
            <a:gdLst/>
            <a:ahLst/>
            <a:cxnLst/>
            <a:rect l="l" t="t" r="r" b="b"/>
            <a:pathLst>
              <a:path w="7797712" h="5198475">
                <a:moveTo>
                  <a:pt x="0" y="0"/>
                </a:moveTo>
                <a:lnTo>
                  <a:pt x="7797712" y="0"/>
                </a:lnTo>
                <a:lnTo>
                  <a:pt x="7797712" y="5198475"/>
                </a:lnTo>
                <a:lnTo>
                  <a:pt x="0" y="519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8038" y="2052390"/>
            <a:ext cx="10209976" cy="7113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62"/>
              </a:lnSpc>
            </a:pPr>
            <a:r>
              <a:rPr lang="en-US" sz="2841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🛠️ Technology Stack</a:t>
            </a:r>
          </a:p>
          <a:p>
            <a:pPr marL="514284" lvl="1" indent="-257142" algn="just">
              <a:lnSpc>
                <a:spcPts val="4262"/>
              </a:lnSpc>
              <a:buFont typeface="Arial"/>
              <a:buChar char="•"/>
            </a:pP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Frontend: HTML5, Tailwind CSS, JavaScript</a:t>
            </a:r>
          </a:p>
          <a:p>
            <a:pPr marL="514284" lvl="1" indent="-257142" algn="just">
              <a:lnSpc>
                <a:spcPts val="4262"/>
              </a:lnSpc>
              <a:buFont typeface="Arial"/>
              <a:buChar char="•"/>
            </a:pP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&amp; APIs : Python , </a:t>
            </a:r>
            <a:r>
              <a:rPr lang="en-US" sz="284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, </a:t>
            </a:r>
            <a:r>
              <a:rPr lang="en-US" sz="284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Pydantic</a:t>
            </a: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,Uvicorn</a:t>
            </a:r>
          </a:p>
          <a:p>
            <a:pPr marL="514284" lvl="1" indent="-257142" algn="just">
              <a:lnSpc>
                <a:spcPts val="4262"/>
              </a:lnSpc>
              <a:buFont typeface="Arial"/>
              <a:buChar char="•"/>
            </a:pP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&amp; LLMs: </a:t>
            </a:r>
            <a:r>
              <a:rPr lang="en-US" sz="284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Groq</a:t>
            </a: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API, Google Gemini, Multi-model Fallbacks</a:t>
            </a:r>
          </a:p>
          <a:p>
            <a:pPr marL="514284" lvl="1" indent="-257142" algn="just">
              <a:lnSpc>
                <a:spcPts val="4262"/>
              </a:lnSpc>
              <a:buFont typeface="Arial"/>
              <a:buChar char="•"/>
            </a:pPr>
            <a:r>
              <a:rPr lang="en-US" sz="284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Database:Supabase</a:t>
            </a: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PostgreSQL, Row Level Security(RLS)</a:t>
            </a:r>
          </a:p>
          <a:p>
            <a:pPr marL="514284" lvl="1" indent="-257142" algn="just">
              <a:lnSpc>
                <a:spcPts val="4262"/>
              </a:lnSpc>
              <a:buFont typeface="Arial"/>
              <a:buChar char="•"/>
            </a:pP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Control: Git, GitHub</a:t>
            </a:r>
          </a:p>
          <a:p>
            <a:pPr algn="just">
              <a:lnSpc>
                <a:spcPts val="4262"/>
              </a:lnSpc>
            </a:pPr>
            <a:r>
              <a:rPr lang="en-US" sz="2841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🔄 Methodology &amp; Process</a:t>
            </a:r>
          </a:p>
          <a:p>
            <a:pPr marL="514284" lvl="1" indent="-257142" algn="just">
              <a:lnSpc>
                <a:spcPts val="4262"/>
              </a:lnSpc>
              <a:buFont typeface="Arial"/>
              <a:buChar char="•"/>
            </a:pP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 → Data Preprocessing → Skill Extraction → AI Assessment → Skill-Gap Analysis → Job Matching → Career Recommendation</a:t>
            </a:r>
          </a:p>
          <a:p>
            <a:pPr algn="just">
              <a:lnSpc>
                <a:spcPts val="4262"/>
              </a:lnSpc>
            </a:pPr>
            <a:r>
              <a:rPr lang="en-US" sz="2841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🚀 Implementation</a:t>
            </a:r>
          </a:p>
          <a:p>
            <a:pPr marL="514284" lvl="1" indent="-257142" algn="just">
              <a:lnSpc>
                <a:spcPts val="4262"/>
              </a:lnSpc>
              <a:buFont typeface="Arial"/>
              <a:buChar char="•"/>
            </a:pP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skill assessment</a:t>
            </a:r>
          </a:p>
          <a:p>
            <a:pPr marL="514284" lvl="1" indent="-257142" algn="just">
              <a:lnSpc>
                <a:spcPts val="4262"/>
              </a:lnSpc>
              <a:buFont typeface="Arial"/>
              <a:buChar char="•"/>
            </a:pPr>
            <a:r>
              <a:rPr lang="en-US" sz="284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Industry requirement analysis &amp; intelligent skill–job matching</a:t>
            </a:r>
          </a:p>
        </p:txBody>
      </p:sp>
      <p:sp>
        <p:nvSpPr>
          <p:cNvPr id="18" name="Freeform 18"/>
          <p:cNvSpPr/>
          <p:nvPr/>
        </p:nvSpPr>
        <p:spPr>
          <a:xfrm>
            <a:off x="15087600" y="275764"/>
            <a:ext cx="2865786" cy="1505871"/>
          </a:xfrm>
          <a:custGeom>
            <a:avLst/>
            <a:gdLst/>
            <a:ahLst/>
            <a:cxnLst/>
            <a:rect l="l" t="t" r="r" b="b"/>
            <a:pathLst>
              <a:path w="2865786" h="1505871">
                <a:moveTo>
                  <a:pt x="0" y="0"/>
                </a:moveTo>
                <a:lnTo>
                  <a:pt x="2865786" y="0"/>
                </a:lnTo>
                <a:lnTo>
                  <a:pt x="2865786" y="1505872"/>
                </a:lnTo>
                <a:lnTo>
                  <a:pt x="0" y="1505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920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75612" y="1670683"/>
            <a:ext cx="17174811" cy="7587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✅ Feasibility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AI/ML technologies are readily available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existing student &amp; job-skill datasets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for colleges and institutions &amp; Can integrate with college placement systems</a:t>
            </a:r>
          </a:p>
          <a:p>
            <a:pPr algn="l">
              <a:lnSpc>
                <a:spcPts val="4319"/>
              </a:lnSpc>
            </a:pPr>
            <a:r>
              <a:rPr lang="en-US" sz="26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⚠️ Challenges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privacy &amp; security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Limited/inconsistent student skill data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Changing industry skill requirements &amp; Risk of biased recommendations</a:t>
            </a:r>
          </a:p>
          <a:p>
            <a:pPr algn="l">
              <a:lnSpc>
                <a:spcPts val="4319"/>
              </a:lnSpc>
            </a:pPr>
            <a:r>
              <a:rPr lang="en-US" sz="26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🛠️ Mitigation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&amp; anonymize student data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model &amp; skill-data updates &amp; Use validated assessment methods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 bias &amp; accuracy checks</a:t>
            </a:r>
          </a:p>
          <a:p>
            <a:pPr algn="l">
              <a:lnSpc>
                <a:spcPts val="4319"/>
              </a:lnSpc>
            </a:pPr>
            <a:r>
              <a:rPr lang="en-US" sz="26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🚀 Viability</a:t>
            </a:r>
          </a:p>
          <a:p>
            <a:pPr marL="488627" lvl="1" indent="-244314" algn="just">
              <a:lnSpc>
                <a:spcPts val="431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Low-cost • Scalable • Industry-relevant • Long-term impact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81825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72197" cy="1249101"/>
            <a:chOff x="0" y="0"/>
            <a:chExt cx="2629596" cy="1665468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629557" cy="1665481"/>
            </a:xfrm>
            <a:custGeom>
              <a:avLst/>
              <a:gdLst/>
              <a:ahLst/>
              <a:cxnLst/>
              <a:rect l="l" t="t" r="r" b="b"/>
              <a:pathLst>
                <a:path w="2629557" h="1665481">
                  <a:moveTo>
                    <a:pt x="0" y="832740"/>
                  </a:moveTo>
                  <a:cubicBezTo>
                    <a:pt x="0" y="372873"/>
                    <a:pt x="588689" y="0"/>
                    <a:pt x="1314778" y="0"/>
                  </a:cubicBezTo>
                  <a:cubicBezTo>
                    <a:pt x="2040867" y="0"/>
                    <a:pt x="2629557" y="372873"/>
                    <a:pt x="2629557" y="832740"/>
                  </a:cubicBezTo>
                  <a:cubicBezTo>
                    <a:pt x="2629557" y="1292608"/>
                    <a:pt x="2040867" y="1665481"/>
                    <a:pt x="1314778" y="1665481"/>
                  </a:cubicBezTo>
                  <a:cubicBezTo>
                    <a:pt x="588689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62959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InfoSnatcher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2880706" y="4109865"/>
            <a:ext cx="4769717" cy="4611348"/>
          </a:xfrm>
          <a:custGeom>
            <a:avLst/>
            <a:gdLst/>
            <a:ahLst/>
            <a:cxnLst/>
            <a:rect l="l" t="t" r="r" b="b"/>
            <a:pathLst>
              <a:path w="4769717" h="4611348">
                <a:moveTo>
                  <a:pt x="0" y="0"/>
                </a:moveTo>
                <a:lnTo>
                  <a:pt x="4769717" y="0"/>
                </a:lnTo>
                <a:lnTo>
                  <a:pt x="4769717" y="4611348"/>
                </a:lnTo>
                <a:lnTo>
                  <a:pt x="0" y="4611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087600" y="275764"/>
            <a:ext cx="2865786" cy="1505871"/>
          </a:xfrm>
          <a:custGeom>
            <a:avLst/>
            <a:gdLst/>
            <a:ahLst/>
            <a:cxnLst/>
            <a:rect l="l" t="t" r="r" b="b"/>
            <a:pathLst>
              <a:path w="2865786" h="1505871">
                <a:moveTo>
                  <a:pt x="0" y="0"/>
                </a:moveTo>
                <a:lnTo>
                  <a:pt x="2865786" y="0"/>
                </a:lnTo>
                <a:lnTo>
                  <a:pt x="2865786" y="1505872"/>
                </a:lnTo>
                <a:lnTo>
                  <a:pt x="0" y="1505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920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1972469"/>
            <a:ext cx="14552151" cy="6598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5"/>
              </a:lnSpc>
            </a:pPr>
            <a:r>
              <a:rPr lang="en-US" sz="36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</a:t>
            </a:r>
            <a:r>
              <a:rPr lang="en-US" sz="36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Right Skill → Right Career</a:t>
            </a:r>
          </a:p>
          <a:p>
            <a:pPr algn="ctr">
              <a:lnSpc>
                <a:spcPts val="5195"/>
              </a:lnSpc>
            </a:pPr>
            <a:endParaRPr lang="en-US" sz="3663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26793" lvl="1" indent="-313397" algn="just">
              <a:lnSpc>
                <a:spcPts val="5195"/>
              </a:lnSpc>
              <a:buFont typeface="Arial"/>
              <a:buChar char="•"/>
            </a:pPr>
            <a:r>
              <a:rPr lang="en-US" sz="3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Identifies students’ </a:t>
            </a:r>
            <a:r>
              <a:rPr lang="en-US" sz="34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actual skill potential</a:t>
            </a:r>
          </a:p>
          <a:p>
            <a:pPr marL="626793" lvl="1" indent="-313397" algn="just">
              <a:lnSpc>
                <a:spcPts val="5195"/>
              </a:lnSpc>
              <a:buFont typeface="Arial"/>
              <a:buChar char="•"/>
            </a:pPr>
            <a:r>
              <a:rPr lang="en-US" sz="3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Reveals </a:t>
            </a:r>
            <a:r>
              <a:rPr lang="en-US" sz="34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skill gaps &amp; learning needs</a:t>
            </a:r>
          </a:p>
          <a:p>
            <a:pPr marL="626793" lvl="1" indent="-313397" algn="just">
              <a:lnSpc>
                <a:spcPts val="5195"/>
              </a:lnSpc>
              <a:buFont typeface="Arial"/>
              <a:buChar char="•"/>
            </a:pPr>
            <a:r>
              <a:rPr lang="en-US" sz="3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Matches talent with </a:t>
            </a:r>
            <a:r>
              <a:rPr lang="en-US" sz="34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suitable industry roles</a:t>
            </a:r>
          </a:p>
          <a:p>
            <a:pPr marL="626793" lvl="1" indent="-313397" algn="just">
              <a:lnSpc>
                <a:spcPts val="5195"/>
              </a:lnSpc>
              <a:buFont typeface="Arial"/>
              <a:buChar char="•"/>
            </a:pPr>
            <a:r>
              <a:rPr lang="en-US" sz="3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</a:t>
            </a:r>
            <a:r>
              <a:rPr lang="en-US" sz="34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skill–job mismatch</a:t>
            </a:r>
          </a:p>
          <a:p>
            <a:pPr marL="626793" lvl="1" indent="-313397" algn="just">
              <a:lnSpc>
                <a:spcPts val="5195"/>
              </a:lnSpc>
              <a:buFont typeface="Arial"/>
              <a:buChar char="•"/>
            </a:pPr>
            <a:r>
              <a:rPr lang="en-US" sz="3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</a:t>
            </a:r>
            <a:r>
              <a:rPr lang="en-US" sz="34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employability &amp; placement outcomes</a:t>
            </a:r>
          </a:p>
          <a:p>
            <a:pPr marL="626793" lvl="1" indent="-313397" algn="just">
              <a:lnSpc>
                <a:spcPts val="5195"/>
              </a:lnSpc>
              <a:buFont typeface="Arial"/>
              <a:buChar char="•"/>
            </a:pPr>
            <a:r>
              <a:rPr lang="en-US" sz="3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</a:t>
            </a:r>
            <a:r>
              <a:rPr lang="en-US" sz="34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data-driven career decisions</a:t>
            </a:r>
          </a:p>
          <a:p>
            <a:pPr marL="626793" lvl="1" indent="-313397" algn="just">
              <a:lnSpc>
                <a:spcPts val="5195"/>
              </a:lnSpc>
              <a:buFont typeface="Arial"/>
              <a:buChar char="•"/>
            </a:pPr>
            <a:r>
              <a:rPr lang="en-US" sz="3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industries find </a:t>
            </a:r>
            <a:r>
              <a:rPr lang="en-US" sz="34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better-fit candidates</a:t>
            </a:r>
          </a:p>
          <a:p>
            <a:pPr marL="626793" lvl="1" indent="-313397" algn="just">
              <a:lnSpc>
                <a:spcPts val="5195"/>
              </a:lnSpc>
              <a:buFont typeface="Arial"/>
              <a:buChar char="•"/>
            </a:pPr>
            <a:r>
              <a:rPr lang="en-US" sz="3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 🚀 </a:t>
            </a:r>
            <a:r>
              <a:rPr lang="en-US" sz="346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Skilled Students • Smarter Hiring • Stronger Workforce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72197" cy="1249101"/>
            <a:chOff x="0" y="0"/>
            <a:chExt cx="2629596" cy="1665468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629557" cy="1665481"/>
            </a:xfrm>
            <a:custGeom>
              <a:avLst/>
              <a:gdLst/>
              <a:ahLst/>
              <a:cxnLst/>
              <a:rect l="l" t="t" r="r" b="b"/>
              <a:pathLst>
                <a:path w="2629557" h="1665481">
                  <a:moveTo>
                    <a:pt x="0" y="832740"/>
                  </a:moveTo>
                  <a:cubicBezTo>
                    <a:pt x="0" y="372873"/>
                    <a:pt x="588689" y="0"/>
                    <a:pt x="1314778" y="0"/>
                  </a:cubicBezTo>
                  <a:cubicBezTo>
                    <a:pt x="2040867" y="0"/>
                    <a:pt x="2629557" y="372873"/>
                    <a:pt x="2629557" y="832740"/>
                  </a:cubicBezTo>
                  <a:cubicBezTo>
                    <a:pt x="2629557" y="1292608"/>
                    <a:pt x="2040867" y="1665481"/>
                    <a:pt x="1314778" y="1665481"/>
                  </a:cubicBezTo>
                  <a:cubicBezTo>
                    <a:pt x="588689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62959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InfoSnatcher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1427794" y="3437710"/>
            <a:ext cx="5248099" cy="3791751"/>
          </a:xfrm>
          <a:custGeom>
            <a:avLst/>
            <a:gdLst/>
            <a:ahLst/>
            <a:cxnLst/>
            <a:rect l="l" t="t" r="r" b="b"/>
            <a:pathLst>
              <a:path w="5248099" h="3791751">
                <a:moveTo>
                  <a:pt x="0" y="0"/>
                </a:moveTo>
                <a:lnTo>
                  <a:pt x="5248099" y="0"/>
                </a:lnTo>
                <a:lnTo>
                  <a:pt x="5248099" y="3791751"/>
                </a:lnTo>
                <a:lnTo>
                  <a:pt x="0" y="3791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087600" y="275764"/>
            <a:ext cx="2865786" cy="1505871"/>
          </a:xfrm>
          <a:custGeom>
            <a:avLst/>
            <a:gdLst/>
            <a:ahLst/>
            <a:cxnLst/>
            <a:rect l="l" t="t" r="r" b="b"/>
            <a:pathLst>
              <a:path w="2865786" h="1505871">
                <a:moveTo>
                  <a:pt x="0" y="0"/>
                </a:moveTo>
                <a:lnTo>
                  <a:pt x="2865786" y="0"/>
                </a:lnTo>
                <a:lnTo>
                  <a:pt x="2865786" y="1505872"/>
                </a:lnTo>
                <a:lnTo>
                  <a:pt x="0" y="1505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92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7806" y="1958844"/>
            <a:ext cx="17563446" cy="736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86"/>
              </a:lnSpc>
            </a:pPr>
            <a:endParaRPr/>
          </a:p>
          <a:p>
            <a:pPr marL="450382" lvl="1" indent="-225191" algn="just">
              <a:lnSpc>
                <a:spcPts val="3732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🌐 </a:t>
            </a:r>
            <a:r>
              <a:rPr lang="en-US" sz="24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World Economic Forum — </a:t>
            </a: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of Jobs Report 2025</a:t>
            </a:r>
          </a:p>
          <a:p>
            <a:pPr algn="just">
              <a:lnSpc>
                <a:spcPts val="3732"/>
              </a:lnSpc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Skills trends, job-market changes &amp; industry requirements</a:t>
            </a:r>
          </a:p>
          <a:p>
            <a:pPr algn="just">
              <a:lnSpc>
                <a:spcPts val="3732"/>
              </a:lnSpc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[WEF Report](https://www.weforum.org/publications/the-future-of-jobs-report-2025/digest/) </a:t>
            </a:r>
          </a:p>
          <a:p>
            <a:pPr marL="450382" lvl="1" indent="-225191" algn="just">
              <a:lnSpc>
                <a:spcPts val="3732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🛄 </a:t>
            </a:r>
            <a:r>
              <a:rPr lang="en-US" sz="24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O*NET — </a:t>
            </a: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Occupational Skills Database</a:t>
            </a:r>
          </a:p>
          <a:p>
            <a:pPr algn="just">
              <a:lnSpc>
                <a:spcPts val="3732"/>
              </a:lnSpc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Skills, abilities &amp; job-role mapping</a:t>
            </a:r>
          </a:p>
          <a:p>
            <a:pPr algn="just">
              <a:lnSpc>
                <a:spcPts val="3732"/>
              </a:lnSpc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[O*NET Database](https://www.onetcenter.org/database.html) </a:t>
            </a:r>
          </a:p>
          <a:p>
            <a:pPr marL="450382" lvl="1" indent="-225191" algn="just">
              <a:lnSpc>
                <a:spcPts val="3732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🇮🇳 </a:t>
            </a:r>
            <a:r>
              <a:rPr lang="en-US" sz="24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National Skill Development Corporation (NSDC)</a:t>
            </a:r>
          </a:p>
          <a:p>
            <a:pPr algn="just">
              <a:lnSpc>
                <a:spcPts val="3732"/>
              </a:lnSpc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Indian skill-gap &amp; employability data</a:t>
            </a:r>
          </a:p>
          <a:p>
            <a:pPr algn="l">
              <a:lnSpc>
                <a:spcPts val="3732"/>
              </a:lnSpc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[NSDC](https://nsdcindia.org/) </a:t>
            </a:r>
          </a:p>
          <a:p>
            <a:pPr marL="450382" lvl="1" indent="-225191" algn="just">
              <a:lnSpc>
                <a:spcPts val="3732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📻 </a:t>
            </a:r>
            <a:r>
              <a:rPr lang="en-US" sz="24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SkillsBuild</a:t>
            </a:r>
          </a:p>
          <a:p>
            <a:pPr algn="just">
              <a:lnSpc>
                <a:spcPts val="3732"/>
              </a:lnSpc>
            </a:pPr>
            <a:r>
              <a:rPr lang="en-US" sz="24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</a:t>
            </a: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Industry-aligned skills &amp; career learning pathways</a:t>
            </a:r>
          </a:p>
          <a:p>
            <a:pPr algn="just">
              <a:lnSpc>
                <a:spcPts val="3732"/>
              </a:lnSpc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[IBM SkillsBuild](https://skillsbuild.org/) </a:t>
            </a:r>
          </a:p>
          <a:p>
            <a:pPr marL="450382" lvl="1" indent="-225191" algn="just">
              <a:lnSpc>
                <a:spcPts val="3732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🌍 </a:t>
            </a:r>
            <a:r>
              <a:rPr lang="en-US" sz="24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WEF — Skills Outlook 2025–2030</a:t>
            </a:r>
          </a:p>
          <a:p>
            <a:pPr algn="just">
              <a:lnSpc>
                <a:spcPts val="3732"/>
              </a:lnSpc>
            </a:pPr>
            <a:r>
              <a:rPr lang="en-US" sz="24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</a:t>
            </a: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AI, big data, cybersecurity, analytical &amp; creative skills</a:t>
            </a:r>
          </a:p>
          <a:p>
            <a:pPr algn="just">
              <a:lnSpc>
                <a:spcPts val="3732"/>
              </a:lnSpc>
            </a:pPr>
            <a:r>
              <a:rPr lang="en-US" sz="24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[SkillsOutlook](https://skilloutlook.com/)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2067700" cy="1249101"/>
            <a:chOff x="0" y="0"/>
            <a:chExt cx="2756934" cy="1665468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756893" cy="1665481"/>
            </a:xfrm>
            <a:custGeom>
              <a:avLst/>
              <a:gdLst/>
              <a:ahLst/>
              <a:cxnLst/>
              <a:rect l="l" t="t" r="r" b="b"/>
              <a:pathLst>
                <a:path w="2756893" h="1665481">
                  <a:moveTo>
                    <a:pt x="0" y="832740"/>
                  </a:moveTo>
                  <a:cubicBezTo>
                    <a:pt x="0" y="372873"/>
                    <a:pt x="617196" y="0"/>
                    <a:pt x="1378446" y="0"/>
                  </a:cubicBezTo>
                  <a:cubicBezTo>
                    <a:pt x="2139696" y="0"/>
                    <a:pt x="2756893" y="372873"/>
                    <a:pt x="2756893" y="832740"/>
                  </a:cubicBezTo>
                  <a:cubicBezTo>
                    <a:pt x="2756893" y="1292608"/>
                    <a:pt x="2139696" y="1665481"/>
                    <a:pt x="1378446" y="1665481"/>
                  </a:cubicBezTo>
                  <a:cubicBezTo>
                    <a:pt x="617196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756934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InfoSnatcher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1313124" y="3937639"/>
            <a:ext cx="6897842" cy="5387366"/>
          </a:xfrm>
          <a:custGeom>
            <a:avLst/>
            <a:gdLst/>
            <a:ahLst/>
            <a:cxnLst/>
            <a:rect l="l" t="t" r="r" b="b"/>
            <a:pathLst>
              <a:path w="6897842" h="5387366">
                <a:moveTo>
                  <a:pt x="0" y="0"/>
                </a:moveTo>
                <a:lnTo>
                  <a:pt x="6897842" y="0"/>
                </a:lnTo>
                <a:lnTo>
                  <a:pt x="6897842" y="5387365"/>
                </a:lnTo>
                <a:lnTo>
                  <a:pt x="0" y="53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087600" y="275764"/>
            <a:ext cx="2865786" cy="1505871"/>
          </a:xfrm>
          <a:custGeom>
            <a:avLst/>
            <a:gdLst/>
            <a:ahLst/>
            <a:cxnLst/>
            <a:rect l="l" t="t" r="r" b="b"/>
            <a:pathLst>
              <a:path w="2865786" h="1505871">
                <a:moveTo>
                  <a:pt x="0" y="0"/>
                </a:moveTo>
                <a:lnTo>
                  <a:pt x="2865786" y="0"/>
                </a:lnTo>
                <a:lnTo>
                  <a:pt x="2865786" y="1505872"/>
                </a:lnTo>
                <a:lnTo>
                  <a:pt x="0" y="1505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92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557</Words>
  <Application>Microsoft Office PowerPoint</Application>
  <PresentationFormat>Custom</PresentationFormat>
  <Paragraphs>108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 Bold Italics</vt:lpstr>
      <vt:lpstr>Calibri</vt:lpstr>
      <vt:lpstr>Calibri (MS)</vt:lpstr>
      <vt:lpstr>Times New Roman Bold</vt:lpstr>
      <vt:lpstr>Arial Italics</vt:lpstr>
      <vt:lpstr>Arimo Bold</vt:lpstr>
      <vt:lpstr>Garamond Bold</vt:lpstr>
      <vt:lpstr>Arial Bold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SIH2025-IDEA-Presentation-Format.pptx</dc:title>
  <dc:creator>Kartik Kumar</dc:creator>
  <cp:lastModifiedBy>Vishal Sohran</cp:lastModifiedBy>
  <cp:revision>3</cp:revision>
  <dcterms:created xsi:type="dcterms:W3CDTF">2006-08-16T00:00:00Z</dcterms:created>
  <dcterms:modified xsi:type="dcterms:W3CDTF">2026-09-10T07:00:00Z</dcterms:modified>
  <dc:identifier>DAHTMXcq2io</dc:identifier>
</cp:coreProperties>
</file>